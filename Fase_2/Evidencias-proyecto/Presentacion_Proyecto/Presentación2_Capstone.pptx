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D9D60D-DD6F-45DF-BA5D-2AF86AEBB59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91FEC23-EE70-4B13-A929-69D56405E85B}">
      <dgm:prSet/>
      <dgm:spPr/>
      <dgm:t>
        <a:bodyPr/>
        <a:lstStyle/>
        <a:p>
          <a:r>
            <a:rPr lang="es-CL"/>
            <a:t>Actualmente, la gestión de solicitudes de soporte e incidencias dentro de una institución puede presentar dificultades para registrar, derivar y realizar seguimiento de los requerimientos de manera centralizada.</a:t>
          </a:r>
          <a:endParaRPr lang="en-US"/>
        </a:p>
      </dgm:t>
    </dgm:pt>
    <dgm:pt modelId="{FC45015C-281C-407C-A915-84F14CF81F4A}" type="parTrans" cxnId="{E01D8A37-4F3F-432E-8DD5-9000C6BCF2D5}">
      <dgm:prSet/>
      <dgm:spPr/>
      <dgm:t>
        <a:bodyPr/>
        <a:lstStyle/>
        <a:p>
          <a:endParaRPr lang="en-US"/>
        </a:p>
      </dgm:t>
    </dgm:pt>
    <dgm:pt modelId="{F8EF240E-7CCB-45F8-8744-EA0885E4EAFE}" type="sibTrans" cxnId="{E01D8A37-4F3F-432E-8DD5-9000C6BCF2D5}">
      <dgm:prSet/>
      <dgm:spPr/>
      <dgm:t>
        <a:bodyPr/>
        <a:lstStyle/>
        <a:p>
          <a:endParaRPr lang="en-US"/>
        </a:p>
      </dgm:t>
    </dgm:pt>
    <dgm:pt modelId="{FD4ADC36-E300-48A8-B78F-6688F0A55848}">
      <dgm:prSet/>
      <dgm:spPr/>
      <dgm:t>
        <a:bodyPr/>
        <a:lstStyle/>
        <a:p>
          <a:r>
            <a:rPr lang="es-CL"/>
            <a:t>Esto puede generar demoras en la atención, dificultades para identificar la ubicación del problema y poca visibilidad sobre el estado de cada solicitud.</a:t>
          </a:r>
          <a:endParaRPr lang="en-US"/>
        </a:p>
      </dgm:t>
    </dgm:pt>
    <dgm:pt modelId="{DD8233DF-AB2B-4C6D-9B1E-A80756E33128}" type="parTrans" cxnId="{170DBCAE-BD45-48F7-9384-47C23361D433}">
      <dgm:prSet/>
      <dgm:spPr/>
      <dgm:t>
        <a:bodyPr/>
        <a:lstStyle/>
        <a:p>
          <a:endParaRPr lang="en-US"/>
        </a:p>
      </dgm:t>
    </dgm:pt>
    <dgm:pt modelId="{2843D889-8F11-4192-A476-36A575486012}" type="sibTrans" cxnId="{170DBCAE-BD45-48F7-9384-47C23361D433}">
      <dgm:prSet/>
      <dgm:spPr/>
      <dgm:t>
        <a:bodyPr/>
        <a:lstStyle/>
        <a:p>
          <a:endParaRPr lang="en-US"/>
        </a:p>
      </dgm:t>
    </dgm:pt>
    <dgm:pt modelId="{B6A3C13E-C8B8-424F-AEF9-665BE36113D3}">
      <dgm:prSet/>
      <dgm:spPr/>
      <dgm:t>
        <a:bodyPr/>
        <a:lstStyle/>
        <a:p>
          <a:r>
            <a:rPr lang="es-CL"/>
            <a:t>El SGCP surge como una propuesta para centralizar las peticiones, facilitar su identificación mediante códigos QR y mejorar su seguimiento y asignación al personal correspondiente.</a:t>
          </a:r>
          <a:endParaRPr lang="en-US"/>
        </a:p>
      </dgm:t>
    </dgm:pt>
    <dgm:pt modelId="{17411ED3-4D89-4D02-B90E-D381045C15C2}" type="parTrans" cxnId="{8046A668-EB16-4DA2-85FF-646C467C6419}">
      <dgm:prSet/>
      <dgm:spPr/>
      <dgm:t>
        <a:bodyPr/>
        <a:lstStyle/>
        <a:p>
          <a:endParaRPr lang="en-US"/>
        </a:p>
      </dgm:t>
    </dgm:pt>
    <dgm:pt modelId="{62D38EA1-71C5-470F-A570-AA0217A79521}" type="sibTrans" cxnId="{8046A668-EB16-4DA2-85FF-646C467C6419}">
      <dgm:prSet/>
      <dgm:spPr/>
      <dgm:t>
        <a:bodyPr/>
        <a:lstStyle/>
        <a:p>
          <a:endParaRPr lang="en-US"/>
        </a:p>
      </dgm:t>
    </dgm:pt>
    <dgm:pt modelId="{0A34467E-D954-4EC1-8650-2C40CB3DDCEC}" type="pres">
      <dgm:prSet presAssocID="{A1D9D60D-DD6F-45DF-BA5D-2AF86AEBB599}" presName="root" presStyleCnt="0">
        <dgm:presLayoutVars>
          <dgm:dir/>
          <dgm:resizeHandles val="exact"/>
        </dgm:presLayoutVars>
      </dgm:prSet>
      <dgm:spPr/>
    </dgm:pt>
    <dgm:pt modelId="{0277EC31-0112-4107-AC0D-17B71D4B54A5}" type="pres">
      <dgm:prSet presAssocID="{291FEC23-EE70-4B13-A929-69D56405E85B}" presName="compNode" presStyleCnt="0"/>
      <dgm:spPr/>
    </dgm:pt>
    <dgm:pt modelId="{3FC68175-500E-48E2-AAD5-CBD161FC61DB}" type="pres">
      <dgm:prSet presAssocID="{291FEC23-EE70-4B13-A929-69D56405E85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e"/>
        </a:ext>
      </dgm:extLst>
    </dgm:pt>
    <dgm:pt modelId="{DD2E4BA1-A0B7-4647-BD55-136B8C3160E5}" type="pres">
      <dgm:prSet presAssocID="{291FEC23-EE70-4B13-A929-69D56405E85B}" presName="spaceRect" presStyleCnt="0"/>
      <dgm:spPr/>
    </dgm:pt>
    <dgm:pt modelId="{E76E354C-3C93-465B-B6F6-49833E64C543}" type="pres">
      <dgm:prSet presAssocID="{291FEC23-EE70-4B13-A929-69D56405E85B}" presName="textRect" presStyleLbl="revTx" presStyleIdx="0" presStyleCnt="3">
        <dgm:presLayoutVars>
          <dgm:chMax val="1"/>
          <dgm:chPref val="1"/>
        </dgm:presLayoutVars>
      </dgm:prSet>
      <dgm:spPr/>
    </dgm:pt>
    <dgm:pt modelId="{03E822E8-C941-4F21-9D09-F640DB01041C}" type="pres">
      <dgm:prSet presAssocID="{F8EF240E-7CCB-45F8-8744-EA0885E4EAFE}" presName="sibTrans" presStyleCnt="0"/>
      <dgm:spPr/>
    </dgm:pt>
    <dgm:pt modelId="{9EFAD83C-C57E-4A3C-9BB2-598DDBFFFE41}" type="pres">
      <dgm:prSet presAssocID="{FD4ADC36-E300-48A8-B78F-6688F0A55848}" presName="compNode" presStyleCnt="0"/>
      <dgm:spPr/>
    </dgm:pt>
    <dgm:pt modelId="{53C5CA7D-C070-4BC4-8771-3731B158E7A3}" type="pres">
      <dgm:prSet presAssocID="{FD4ADC36-E300-48A8-B78F-6688F0A5584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onómetro"/>
        </a:ext>
      </dgm:extLst>
    </dgm:pt>
    <dgm:pt modelId="{50099900-D90A-4457-AC68-F5EDB20F8EB0}" type="pres">
      <dgm:prSet presAssocID="{FD4ADC36-E300-48A8-B78F-6688F0A55848}" presName="spaceRect" presStyleCnt="0"/>
      <dgm:spPr/>
    </dgm:pt>
    <dgm:pt modelId="{EDAF5392-EB74-4CD5-B04D-59A27D95D07A}" type="pres">
      <dgm:prSet presAssocID="{FD4ADC36-E300-48A8-B78F-6688F0A55848}" presName="textRect" presStyleLbl="revTx" presStyleIdx="1" presStyleCnt="3">
        <dgm:presLayoutVars>
          <dgm:chMax val="1"/>
          <dgm:chPref val="1"/>
        </dgm:presLayoutVars>
      </dgm:prSet>
      <dgm:spPr/>
    </dgm:pt>
    <dgm:pt modelId="{B5B240BC-718E-4873-ACED-7D08C22D22A2}" type="pres">
      <dgm:prSet presAssocID="{2843D889-8F11-4192-A476-36A575486012}" presName="sibTrans" presStyleCnt="0"/>
      <dgm:spPr/>
    </dgm:pt>
    <dgm:pt modelId="{AC190493-805C-4999-9C8A-9E4F287C2E8E}" type="pres">
      <dgm:prSet presAssocID="{B6A3C13E-C8B8-424F-AEF9-665BE36113D3}" presName="compNode" presStyleCnt="0"/>
      <dgm:spPr/>
    </dgm:pt>
    <dgm:pt modelId="{8394E352-48D8-4940-9EC4-983B37795607}" type="pres">
      <dgm:prSet presAssocID="{B6A3C13E-C8B8-424F-AEF9-665BE36113D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"/>
        </a:ext>
      </dgm:extLst>
    </dgm:pt>
    <dgm:pt modelId="{9E0A081B-1984-4D51-B535-02FEE6BFE483}" type="pres">
      <dgm:prSet presAssocID="{B6A3C13E-C8B8-424F-AEF9-665BE36113D3}" presName="spaceRect" presStyleCnt="0"/>
      <dgm:spPr/>
    </dgm:pt>
    <dgm:pt modelId="{B45111A0-4361-4788-A3D4-9E429BF4E7BB}" type="pres">
      <dgm:prSet presAssocID="{B6A3C13E-C8B8-424F-AEF9-665BE36113D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01D8A37-4F3F-432E-8DD5-9000C6BCF2D5}" srcId="{A1D9D60D-DD6F-45DF-BA5D-2AF86AEBB599}" destId="{291FEC23-EE70-4B13-A929-69D56405E85B}" srcOrd="0" destOrd="0" parTransId="{FC45015C-281C-407C-A915-84F14CF81F4A}" sibTransId="{F8EF240E-7CCB-45F8-8744-EA0885E4EAFE}"/>
    <dgm:cxn modelId="{961EB43C-3385-4F62-B103-5B325494B225}" type="presOf" srcId="{291FEC23-EE70-4B13-A929-69D56405E85B}" destId="{E76E354C-3C93-465B-B6F6-49833E64C543}" srcOrd="0" destOrd="0" presId="urn:microsoft.com/office/officeart/2018/2/layout/IconLabelList"/>
    <dgm:cxn modelId="{8046A668-EB16-4DA2-85FF-646C467C6419}" srcId="{A1D9D60D-DD6F-45DF-BA5D-2AF86AEBB599}" destId="{B6A3C13E-C8B8-424F-AEF9-665BE36113D3}" srcOrd="2" destOrd="0" parTransId="{17411ED3-4D89-4D02-B90E-D381045C15C2}" sibTransId="{62D38EA1-71C5-470F-A570-AA0217A79521}"/>
    <dgm:cxn modelId="{93EAB86D-F7C3-4ACD-94B3-32E6AAC54157}" type="presOf" srcId="{A1D9D60D-DD6F-45DF-BA5D-2AF86AEBB599}" destId="{0A34467E-D954-4EC1-8650-2C40CB3DDCEC}" srcOrd="0" destOrd="0" presId="urn:microsoft.com/office/officeart/2018/2/layout/IconLabelList"/>
    <dgm:cxn modelId="{170DBCAE-BD45-48F7-9384-47C23361D433}" srcId="{A1D9D60D-DD6F-45DF-BA5D-2AF86AEBB599}" destId="{FD4ADC36-E300-48A8-B78F-6688F0A55848}" srcOrd="1" destOrd="0" parTransId="{DD8233DF-AB2B-4C6D-9B1E-A80756E33128}" sibTransId="{2843D889-8F11-4192-A476-36A575486012}"/>
    <dgm:cxn modelId="{50442FB1-4246-4471-B7B3-A12832BEF6BE}" type="presOf" srcId="{FD4ADC36-E300-48A8-B78F-6688F0A55848}" destId="{EDAF5392-EB74-4CD5-B04D-59A27D95D07A}" srcOrd="0" destOrd="0" presId="urn:microsoft.com/office/officeart/2018/2/layout/IconLabelList"/>
    <dgm:cxn modelId="{DA1CBCEB-1DDF-4933-9BCB-06F135C2925A}" type="presOf" srcId="{B6A3C13E-C8B8-424F-AEF9-665BE36113D3}" destId="{B45111A0-4361-4788-A3D4-9E429BF4E7BB}" srcOrd="0" destOrd="0" presId="urn:microsoft.com/office/officeart/2018/2/layout/IconLabelList"/>
    <dgm:cxn modelId="{2D975ED6-28F5-4C20-B7F6-6B2EE93264F9}" type="presParOf" srcId="{0A34467E-D954-4EC1-8650-2C40CB3DDCEC}" destId="{0277EC31-0112-4107-AC0D-17B71D4B54A5}" srcOrd="0" destOrd="0" presId="urn:microsoft.com/office/officeart/2018/2/layout/IconLabelList"/>
    <dgm:cxn modelId="{3E9E043B-C028-4965-8B90-DB7D6373FDED}" type="presParOf" srcId="{0277EC31-0112-4107-AC0D-17B71D4B54A5}" destId="{3FC68175-500E-48E2-AAD5-CBD161FC61DB}" srcOrd="0" destOrd="0" presId="urn:microsoft.com/office/officeart/2018/2/layout/IconLabelList"/>
    <dgm:cxn modelId="{89668111-ED0F-43C2-BB68-C4AB7A6DCB4E}" type="presParOf" srcId="{0277EC31-0112-4107-AC0D-17B71D4B54A5}" destId="{DD2E4BA1-A0B7-4647-BD55-136B8C3160E5}" srcOrd="1" destOrd="0" presId="urn:microsoft.com/office/officeart/2018/2/layout/IconLabelList"/>
    <dgm:cxn modelId="{2D1F70AF-A19D-4816-A7BD-F59237CDEDFA}" type="presParOf" srcId="{0277EC31-0112-4107-AC0D-17B71D4B54A5}" destId="{E76E354C-3C93-465B-B6F6-49833E64C543}" srcOrd="2" destOrd="0" presId="urn:microsoft.com/office/officeart/2018/2/layout/IconLabelList"/>
    <dgm:cxn modelId="{E33ACE48-E398-42A3-BE9D-2571DBD1678D}" type="presParOf" srcId="{0A34467E-D954-4EC1-8650-2C40CB3DDCEC}" destId="{03E822E8-C941-4F21-9D09-F640DB01041C}" srcOrd="1" destOrd="0" presId="urn:microsoft.com/office/officeart/2018/2/layout/IconLabelList"/>
    <dgm:cxn modelId="{37CE6443-B702-425F-8667-86A4F06A4921}" type="presParOf" srcId="{0A34467E-D954-4EC1-8650-2C40CB3DDCEC}" destId="{9EFAD83C-C57E-4A3C-9BB2-598DDBFFFE41}" srcOrd="2" destOrd="0" presId="urn:microsoft.com/office/officeart/2018/2/layout/IconLabelList"/>
    <dgm:cxn modelId="{57821D23-ECCF-429C-A811-96C0C2216528}" type="presParOf" srcId="{9EFAD83C-C57E-4A3C-9BB2-598DDBFFFE41}" destId="{53C5CA7D-C070-4BC4-8771-3731B158E7A3}" srcOrd="0" destOrd="0" presId="urn:microsoft.com/office/officeart/2018/2/layout/IconLabelList"/>
    <dgm:cxn modelId="{0B049EF4-590F-45F1-87D6-1BAA4880EA7B}" type="presParOf" srcId="{9EFAD83C-C57E-4A3C-9BB2-598DDBFFFE41}" destId="{50099900-D90A-4457-AC68-F5EDB20F8EB0}" srcOrd="1" destOrd="0" presId="urn:microsoft.com/office/officeart/2018/2/layout/IconLabelList"/>
    <dgm:cxn modelId="{8AA89810-09CA-411F-9C69-2EB87FDA53C0}" type="presParOf" srcId="{9EFAD83C-C57E-4A3C-9BB2-598DDBFFFE41}" destId="{EDAF5392-EB74-4CD5-B04D-59A27D95D07A}" srcOrd="2" destOrd="0" presId="urn:microsoft.com/office/officeart/2018/2/layout/IconLabelList"/>
    <dgm:cxn modelId="{EABA94F9-BAEB-4D38-8510-E39CBE18DF5D}" type="presParOf" srcId="{0A34467E-D954-4EC1-8650-2C40CB3DDCEC}" destId="{B5B240BC-718E-4873-ACED-7D08C22D22A2}" srcOrd="3" destOrd="0" presId="urn:microsoft.com/office/officeart/2018/2/layout/IconLabelList"/>
    <dgm:cxn modelId="{C5A6E8C6-CCFB-485A-B106-8F11AA88B3F7}" type="presParOf" srcId="{0A34467E-D954-4EC1-8650-2C40CB3DDCEC}" destId="{AC190493-805C-4999-9C8A-9E4F287C2E8E}" srcOrd="4" destOrd="0" presId="urn:microsoft.com/office/officeart/2018/2/layout/IconLabelList"/>
    <dgm:cxn modelId="{7148A537-BA19-48B9-9394-7AA2297D0A14}" type="presParOf" srcId="{AC190493-805C-4999-9C8A-9E4F287C2E8E}" destId="{8394E352-48D8-4940-9EC4-983B37795607}" srcOrd="0" destOrd="0" presId="urn:microsoft.com/office/officeart/2018/2/layout/IconLabelList"/>
    <dgm:cxn modelId="{DBBDC29B-B4DC-4F93-920A-D3007C38F909}" type="presParOf" srcId="{AC190493-805C-4999-9C8A-9E4F287C2E8E}" destId="{9E0A081B-1984-4D51-B535-02FEE6BFE483}" srcOrd="1" destOrd="0" presId="urn:microsoft.com/office/officeart/2018/2/layout/IconLabelList"/>
    <dgm:cxn modelId="{16400FE8-2A27-4E57-AA45-DCDF2E844194}" type="presParOf" srcId="{AC190493-805C-4999-9C8A-9E4F287C2E8E}" destId="{B45111A0-4361-4788-A3D4-9E429BF4E7B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C68175-500E-48E2-AAD5-CBD161FC61DB}">
      <dsp:nvSpPr>
        <dsp:cNvPr id="0" name=""/>
        <dsp:cNvSpPr/>
      </dsp:nvSpPr>
      <dsp:spPr>
        <a:xfrm>
          <a:off x="851414" y="744203"/>
          <a:ext cx="1237744" cy="12377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6E354C-3C93-465B-B6F6-49833E64C543}">
      <dsp:nvSpPr>
        <dsp:cNvPr id="0" name=""/>
        <dsp:cNvSpPr/>
      </dsp:nvSpPr>
      <dsp:spPr>
        <a:xfrm>
          <a:off x="95014" y="2367230"/>
          <a:ext cx="2750544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kern="1200"/>
            <a:t>Actualmente, la gestión de solicitudes de soporte e incidencias dentro de una institución puede presentar dificultades para registrar, derivar y realizar seguimiento de los requerimientos de manera centralizada.</a:t>
          </a:r>
          <a:endParaRPr lang="en-US" sz="1100" kern="1200"/>
        </a:p>
      </dsp:txBody>
      <dsp:txXfrm>
        <a:off x="95014" y="2367230"/>
        <a:ext cx="2750544" cy="945000"/>
      </dsp:txXfrm>
    </dsp:sp>
    <dsp:sp modelId="{53C5CA7D-C070-4BC4-8771-3731B158E7A3}">
      <dsp:nvSpPr>
        <dsp:cNvPr id="0" name=""/>
        <dsp:cNvSpPr/>
      </dsp:nvSpPr>
      <dsp:spPr>
        <a:xfrm>
          <a:off x="4083303" y="744203"/>
          <a:ext cx="1237744" cy="12377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F5392-EB74-4CD5-B04D-59A27D95D07A}">
      <dsp:nvSpPr>
        <dsp:cNvPr id="0" name=""/>
        <dsp:cNvSpPr/>
      </dsp:nvSpPr>
      <dsp:spPr>
        <a:xfrm>
          <a:off x="3326904" y="2367230"/>
          <a:ext cx="2750544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kern="1200"/>
            <a:t>Esto puede generar demoras en la atención, dificultades para identificar la ubicación del problema y poca visibilidad sobre el estado de cada solicitud.</a:t>
          </a:r>
          <a:endParaRPr lang="en-US" sz="1100" kern="1200"/>
        </a:p>
      </dsp:txBody>
      <dsp:txXfrm>
        <a:off x="3326904" y="2367230"/>
        <a:ext cx="2750544" cy="945000"/>
      </dsp:txXfrm>
    </dsp:sp>
    <dsp:sp modelId="{8394E352-48D8-4940-9EC4-983B37795607}">
      <dsp:nvSpPr>
        <dsp:cNvPr id="0" name=""/>
        <dsp:cNvSpPr/>
      </dsp:nvSpPr>
      <dsp:spPr>
        <a:xfrm>
          <a:off x="7315192" y="744203"/>
          <a:ext cx="1237744" cy="12377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5111A0-4361-4788-A3D4-9E429BF4E7BB}">
      <dsp:nvSpPr>
        <dsp:cNvPr id="0" name=""/>
        <dsp:cNvSpPr/>
      </dsp:nvSpPr>
      <dsp:spPr>
        <a:xfrm>
          <a:off x="6558793" y="2367230"/>
          <a:ext cx="2750544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kern="1200"/>
            <a:t>El SGCP surge como una propuesta para centralizar las peticiones, facilitar su identificación mediante códigos QR y mejorar su seguimiento y asignación al personal correspondiente.</a:t>
          </a:r>
          <a:endParaRPr lang="en-US" sz="1100" kern="1200"/>
        </a:p>
      </dsp:txBody>
      <dsp:txXfrm>
        <a:off x="6558793" y="2367230"/>
        <a:ext cx="2750544" cy="94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3D9D-D1C7-4E5E-8397-E13EEC03DB63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70CEF-974F-4BB6-BEB7-4DE3483FF0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2018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3D9D-D1C7-4E5E-8397-E13EEC03DB63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70CEF-974F-4BB6-BEB7-4DE3483FF0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32522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3D9D-D1C7-4E5E-8397-E13EEC03DB63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70CEF-974F-4BB6-BEB7-4DE3483FF0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5982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3D9D-D1C7-4E5E-8397-E13EEC03DB63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70CEF-974F-4BB6-BEB7-4DE3483FF0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7700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3D9D-D1C7-4E5E-8397-E13EEC03DB63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70CEF-974F-4BB6-BEB7-4DE3483FF0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17091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3D9D-D1C7-4E5E-8397-E13EEC03DB63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70CEF-974F-4BB6-BEB7-4DE3483FF0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2211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3D9D-D1C7-4E5E-8397-E13EEC03DB63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70CEF-974F-4BB6-BEB7-4DE3483FF0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37848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3D9D-D1C7-4E5E-8397-E13EEC03DB63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70CEF-974F-4BB6-BEB7-4DE3483FF0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6419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3D9D-D1C7-4E5E-8397-E13EEC03DB63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70CEF-974F-4BB6-BEB7-4DE3483FF0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81569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3D9D-D1C7-4E5E-8397-E13EEC03DB63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70CEF-974F-4BB6-BEB7-4DE3483FF0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5324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3D9D-D1C7-4E5E-8397-E13EEC03DB63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70CEF-974F-4BB6-BEB7-4DE3483FF0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78911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3D9D-D1C7-4E5E-8397-E13EEC03DB63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70CEF-974F-4BB6-BEB7-4DE3483FF09A}" type="slidenum">
              <a:rPr lang="es-CL" smtClean="0"/>
              <a:t>‹Nº›</a:t>
            </a:fld>
            <a:endParaRPr lang="es-CL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3117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3D9D-D1C7-4E5E-8397-E13EEC03DB63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70CEF-974F-4BB6-BEB7-4DE3483FF0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95070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3D9D-D1C7-4E5E-8397-E13EEC03DB63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70CEF-974F-4BB6-BEB7-4DE3483FF0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4999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3D9D-D1C7-4E5E-8397-E13EEC03DB63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70CEF-974F-4BB6-BEB7-4DE3483FF0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871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3D9D-D1C7-4E5E-8397-E13EEC03DB63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70CEF-974F-4BB6-BEB7-4DE3483FF0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03129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3D9D-D1C7-4E5E-8397-E13EEC03DB63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70CEF-974F-4BB6-BEB7-4DE3483FF0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0996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1353D9D-D1C7-4E5E-8397-E13EEC03DB63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570CEF-974F-4BB6-BEB7-4DE3483FF0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196610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CC123-D4F9-458D-AE9E-5C18DB1AC5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Sistema de gestión y control de peticiones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1A3BE1-6DEA-3F65-5A76-EB6AAEB730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s-CL" sz="1400" dirty="0"/>
              <a:t>Integrantes:</a:t>
            </a:r>
          </a:p>
          <a:p>
            <a:r>
              <a:rPr lang="es-CL" sz="1400" dirty="0"/>
              <a:t>Felipe Madariaga</a:t>
            </a:r>
          </a:p>
          <a:p>
            <a:r>
              <a:rPr lang="es-CL" sz="1400" dirty="0"/>
              <a:t>Esteban toro</a:t>
            </a:r>
          </a:p>
          <a:p>
            <a:r>
              <a:rPr lang="es-CL" sz="1400" dirty="0"/>
              <a:t>Álvaro Araya</a:t>
            </a:r>
          </a:p>
        </p:txBody>
      </p:sp>
    </p:spTree>
    <p:extLst>
      <p:ext uri="{BB962C8B-B14F-4D97-AF65-F5344CB8AC3E}">
        <p14:creationId xmlns:p14="http://schemas.microsoft.com/office/powerpoint/2010/main" val="3244267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CF39AB-E4B1-DE2F-E81B-BC815C5D2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s-CL" dirty="0"/>
              <a:t>Contexto del proyecto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3D956EB-1206-20CD-CFD6-EEA5ADF487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0324472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20020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AF4AE-0454-947D-0FBB-EE755291A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Caso de uso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7BD44D0-1F24-AC40-3F8F-37B266E976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870" y="1362406"/>
            <a:ext cx="8091949" cy="511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273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D2A3A5-B79E-849C-4CD0-9F5408B37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Avance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F8282B-B511-BF67-207D-18D9B5D63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CL" dirty="0"/>
              <a:t>En nuestra ficha de iteración 4, estipulamos un 70% de avance para la versión 1.0, consideramos que lo logramos debido a lo siguiente:</a:t>
            </a:r>
          </a:p>
          <a:p>
            <a:pPr lvl="0"/>
            <a:r>
              <a:rPr lang="es-CL" b="1" dirty="0"/>
              <a:t>Flujo completo funcionando:</a:t>
            </a:r>
            <a:r>
              <a:rPr lang="es-CL" dirty="0"/>
              <a:t> el docente escanea el QR de la sala, envía la solicitud con su urgencia, soporte la recibe priorizada y la notificación llega al celular.</a:t>
            </a:r>
          </a:p>
          <a:p>
            <a:pPr lvl="0"/>
            <a:r>
              <a:rPr lang="es-CL" b="1" dirty="0"/>
              <a:t>Brecha principal cerrada:</a:t>
            </a:r>
            <a:r>
              <a:rPr lang="es-CL" dirty="0"/>
              <a:t> el </a:t>
            </a:r>
            <a:r>
              <a:rPr lang="es-CL" dirty="0" err="1"/>
              <a:t>backend</a:t>
            </a:r>
            <a:r>
              <a:rPr lang="es-CL" dirty="0"/>
              <a:t> y la base de datos ya están en un servidor (Render) y la app móvil se conecta a él.</a:t>
            </a:r>
          </a:p>
          <a:p>
            <a:pPr lvl="0"/>
            <a:r>
              <a:rPr lang="es-CL" b="1" dirty="0"/>
              <a:t>APK generada con servidor de pruebas:</a:t>
            </a:r>
            <a:r>
              <a:rPr lang="es-CL" dirty="0"/>
              <a:t> Se generó la </a:t>
            </a:r>
            <a:r>
              <a:rPr lang="es-CL" dirty="0" err="1"/>
              <a:t>apk</a:t>
            </a:r>
            <a:r>
              <a:rPr lang="es-CL" dirty="0"/>
              <a:t> de la aplicación, lo que nos permitió probar el flujo de las notificaciones.</a:t>
            </a:r>
          </a:p>
          <a:p>
            <a:pPr lvl="0"/>
            <a:r>
              <a:rPr lang="es-CL" b="1" dirty="0"/>
              <a:t>Más funcionalidades:</a:t>
            </a:r>
            <a:r>
              <a:rPr lang="es-CL" dirty="0"/>
              <a:t> disponibilidad del personal, filtros por urgencia y sala, y pantalla de cuentas pendientes de aprobación.</a:t>
            </a:r>
          </a:p>
          <a:p>
            <a:pPr lvl="0"/>
            <a:r>
              <a:rPr lang="es-CL" b="1" dirty="0"/>
              <a:t>Lo que queda:</a:t>
            </a:r>
            <a:r>
              <a:rPr lang="es-CL" dirty="0"/>
              <a:t> validaciones, pruebas de seguridad, calidad y estrés (el 30 % restante).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59771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C60545-887F-4BF8-FAD5-341BDDCDB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Evidencias de avance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B87E40-5AD1-7065-1BA7-0CC008F1C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A continuación, mostraremos el flujo completo de la aplicación, desde el inicio de una petición, hasta el final.</a:t>
            </a:r>
          </a:p>
        </p:txBody>
      </p:sp>
    </p:spTree>
    <p:extLst>
      <p:ext uri="{BB962C8B-B14F-4D97-AF65-F5344CB8AC3E}">
        <p14:creationId xmlns:p14="http://schemas.microsoft.com/office/powerpoint/2010/main" val="1625606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43F63-ACF6-506A-5682-0D51A1D25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089632-93BA-59CF-796E-7BBC88200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En conclusión, habíamos estipulado un avance del 70% para la versión 1.0. Lo logramos: el proceso completo funciona de punta a punta, desde que el docente escanea el QR y envía la solicitud hasta que el personal de soporte la recibe, ordenada por urgencia, con su notificación en el celular.</a:t>
            </a:r>
          </a:p>
          <a:p>
            <a:r>
              <a:rPr lang="es-CL" dirty="0"/>
              <a:t>La principal brecha que habíamos identificado era el despliegue en un servidor. Ya la cerramos: </a:t>
            </a:r>
            <a:r>
              <a:rPr lang="es-CL" dirty="0" err="1"/>
              <a:t>backend</a:t>
            </a:r>
            <a:r>
              <a:rPr lang="es-CL" dirty="0"/>
              <a:t> y base de datos están en Render, y generamos la APK conectada a ese servidor. </a:t>
            </a:r>
          </a:p>
          <a:p>
            <a:r>
              <a:rPr lang="es-CL" dirty="0"/>
              <a:t>Lo que falta es el 30 % de endurecimiento: validaciones de usuario, pruebas de seguridad, calidad y estrés. Ese será el foco de las próximas semanas.”</a:t>
            </a:r>
          </a:p>
        </p:txBody>
      </p:sp>
    </p:spTree>
    <p:extLst>
      <p:ext uri="{BB962C8B-B14F-4D97-AF65-F5344CB8AC3E}">
        <p14:creationId xmlns:p14="http://schemas.microsoft.com/office/powerpoint/2010/main" val="13151864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51</TotalTime>
  <Words>407</Words>
  <Application>Microsoft Office PowerPoint</Application>
  <PresentationFormat>Panorámica</PresentationFormat>
  <Paragraphs>23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Ion</vt:lpstr>
      <vt:lpstr>Sistema de gestión y control de peticiones</vt:lpstr>
      <vt:lpstr>Contexto del proyecto</vt:lpstr>
      <vt:lpstr>Caso de uso</vt:lpstr>
      <vt:lpstr>Avance</vt:lpstr>
      <vt:lpstr>Evidencias de avance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Esteban Gabriel Toro vidal</dc:creator>
  <cp:lastModifiedBy>Esteban Gabriel Toro vidal</cp:lastModifiedBy>
  <cp:revision>1</cp:revision>
  <dcterms:created xsi:type="dcterms:W3CDTF">2026-10-18T20:01:39Z</dcterms:created>
  <dcterms:modified xsi:type="dcterms:W3CDTF">2026-10-18T20:53:02Z</dcterms:modified>
</cp:coreProperties>
</file>